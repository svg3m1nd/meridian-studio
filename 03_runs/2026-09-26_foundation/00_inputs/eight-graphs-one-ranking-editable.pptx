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Poll the room. Pause. Most will say one, some will say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Thesis statement. Preview the three 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link graph is still actively patented.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pivot line of Act 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graph most SEOs deny — confirmed under oath. A wow beat.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 people will photograph.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Slow down here. This is the intellectual peak.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Ties directly to the ‘False Precision’ UK SEO Summit talk. Second wow beat.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Act III.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Audience interaction: which graph are YOU neglecting?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1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26480" cy="64008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65215" y="0"/>
            <a:ext cx="612648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 i="0">
                <a:solidFill>
                  <a:srgbClr val="D4AF37"/>
                </a:solidFill>
                <a:latin typeface="Consolas"/>
              </a:rPr>
              <a:t>SEO ROCKSTARS 2026  ·  NEW ORLEANS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749807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7600" b="1" i="0">
                <a:solidFill>
                  <a:srgbClr val="FFFFFF"/>
                </a:solidFill>
                <a:latin typeface="Arial Narrow"/>
              </a:rPr>
              <a:t>EIGHT GRAPHS,</a:t>
            </a:r>
          </a:p>
          <a:p>
            <a:pPr>
              <a:spcAft>
                <a:spcPts val="1400"/>
              </a:spcAft>
            </a:pPr>
            <a:r>
              <a:rPr sz="7600" b="1" i="0">
                <a:solidFill>
                  <a:srgbClr val="22D3EE"/>
                </a:solidFill>
                <a:latin typeface="Arial Narrow"/>
              </a:rPr>
              <a:t>ONE RANKING</a:t>
            </a:r>
          </a:p>
          <a:p>
            <a:pPr>
              <a:spcAft>
                <a:spcPts val="1600"/>
              </a:spcAft>
            </a:pPr>
            <a:r>
              <a:rPr sz="2100" b="0" i="0">
                <a:solidFill>
                  <a:srgbClr val="FFFFFF"/>
                </a:solidFill>
                <a:latin typeface="Calibri"/>
              </a:rPr>
              <a:t>How overlapping graphs determine prominence, authority, and trust — in search engines and AI alike.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D4AF37"/>
                </a:solidFill>
                <a:latin typeface="Consolas"/>
              </a:rPr>
              <a:t>BRIAN KATO   ·  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A849E"/>
                </a:solidFill>
                <a:latin typeface="Consolas"/>
              </a:defRPr>
            </a:pPr>
            <a:r>
              <a:t>EIGHT GRAPHS, ONE RANKING  ·  Brian Kato  ·  SEO Rockstars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A849E"/>
                </a:solidFill>
                <a:latin typeface="Consola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26480" cy="64008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65215" y="0"/>
            <a:ext cx="612648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D4AF37"/>
                </a:solidFill>
                <a:latin typeface="Consolas"/>
              </a:rPr>
              <a:t>THE PROVOCATION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223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 Narrow"/>
              </a:rPr>
              <a:t>How many graphs does Google use to rank a page?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84831"/>
            <a:ext cx="1051560" cy="50292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223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Most people say one.  (PageRank.)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Some say two.  (Links + entities.)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The real answer: at least eight.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And the math that fuses them was published a decade ago — in a biology journal.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A849E"/>
                </a:solidFill>
                <a:latin typeface="Consolas"/>
              </a:defRPr>
            </a:pPr>
            <a:r>
              <a:t>EIGHT GRAPHS, ONE RANKING  ·  Brian Kato  ·  SEO Rockstars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A849E"/>
                </a:solidFill>
                <a:latin typeface="Consola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26480" cy="64008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65215" y="0"/>
            <a:ext cx="612648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D4AF37"/>
                </a:solidFill>
                <a:latin typeface="Consolas"/>
              </a:rPr>
              <a:t>THE 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223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 Narrow"/>
              </a:rPr>
              <a:t>One trick. Every system.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84831"/>
            <a:ext cx="1051560" cy="50292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223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Nearly all modern retrieval runs the same multi-graph playbook —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Google  •  Bing  •  Perplexity  •  ChatGPT Search  •  every serious RAG pipeline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Rankings are the interference pattern of overlapping graphs.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Three acts: the graphs → the fusion math → the same pattern in AI.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A849E"/>
                </a:solidFill>
                <a:latin typeface="Consolas"/>
              </a:defRPr>
            </a:pPr>
            <a:r>
              <a:t>EIGHT GRAPHS, ONE RANKING  ·  Brian Kato  ·  SEO Rockstars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A849E"/>
                </a:solidFill>
                <a:latin typeface="Consola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26480" cy="64008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65215" y="0"/>
            <a:ext cx="612648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D4AF37"/>
                </a:solidFill>
                <a:latin typeface="Consolas"/>
              </a:rPr>
              <a:t>ACT I — THE SINGLE-GRAPH MYTH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223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 Narrow"/>
              </a:rPr>
              <a:t>The graph we all know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84831"/>
            <a:ext cx="1051560" cy="50292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223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1998: the web as a directed graph of pages and links — the random surfer.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Original PageRank patent (Stanford) expired January 2019.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But Google never stopped patenting the link graph: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US9165040B1 — distance-based PageRank, valid to 2027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US8972329B2 — random-surfer ranking on graphs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8A849E"/>
                </a:solidFill>
                <a:latin typeface="Consolas"/>
              </a:rPr>
              <a:t>Patents: US9165040B1 • US8972329B2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A849E"/>
                </a:solidFill>
                <a:latin typeface="Consolas"/>
              </a:defRPr>
            </a:pPr>
            <a:r>
              <a:t>EIGHT GRAPHS, ONE RANKING  ·  Brian Kato  ·  SEO Rockstars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A849E"/>
                </a:solidFill>
                <a:latin typeface="Consola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26480" cy="64008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65215" y="0"/>
            <a:ext cx="612648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>
                <a:solidFill>
                  <a:srgbClr val="D4AF37"/>
                </a:solidFill>
                <a:latin typeface="Consolas"/>
              </a:rPr>
              <a:t>2012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1600" cy="2926080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371600"/>
            <a:ext cx="9692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3000" b="1" i="0">
                <a:solidFill>
                  <a:srgbClr val="FFFFFF"/>
                </a:solidFill>
                <a:latin typeface="Arial Narrow"/>
              </a:rPr>
              <a:t>“We’ve been working on an intelligent model — in geek-speak, a ‘graph’ — that understands real-world entities and their relationships to one another: things, not strings.”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C9C2D9"/>
                </a:solidFill>
                <a:latin typeface="Consolas"/>
              </a:rPr>
              <a:t>Amit Singhal, SVP Engineering, Google — launching the Knowledge Graph, May 16, 2012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•  500M objects • 3.5B facts at launch (last official count)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•  The moment the web stopped being one graph.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A849E"/>
                </a:solidFill>
                <a:latin typeface="Consolas"/>
              </a:defRPr>
            </a:pPr>
            <a:r>
              <a:t>EIGHT GRAPHS, ONE RANKING  ·  Brian Kato  ·  SEO Rockstars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A849E"/>
                </a:solidFill>
                <a:latin typeface="Consola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26480" cy="64008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65215" y="0"/>
            <a:ext cx="612648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D4AF37"/>
                </a:solidFill>
                <a:latin typeface="Consolas"/>
              </a:rPr>
              <a:t>ACT I — THE SINGLE-GRAPH MYTH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223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 Narrow"/>
              </a:rPr>
              <a:t>The mental model most SEOs still run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84831"/>
            <a:ext cx="1051560" cy="50292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223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One axis: more links = more authority.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Links are one layer.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The ranking you see is the interference pattern of eight graphs overlapping —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like moiré patterns. Like frequencies in a Fourier transform.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A849E"/>
                </a:solidFill>
                <a:latin typeface="Consolas"/>
              </a:defRPr>
            </a:pPr>
            <a:r>
              <a:t>EIGHT GRAPHS, ONE RANKING  ·  Brian Kato  ·  SEO Rockstars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A849E"/>
                </a:solidFill>
                <a:latin typeface="Consola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26480" cy="64008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65215" y="0"/>
            <a:ext cx="612648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D4AF37"/>
                </a:solidFill>
                <a:latin typeface="Consolas"/>
              </a:rPr>
              <a:t>ACT II — THE EIGHT GRAPHS  •  GRAPH 01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223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 Narrow"/>
              </a:rPr>
              <a:t>The Link Graph</a:t>
            </a:r>
          </a:p>
          <a:p>
            <a:pPr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Consolas"/>
              </a:rPr>
              <a:t>SCORES: AUTHORITY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84831"/>
            <a:ext cx="1051560" cy="50292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223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Nodes: pages. Edges: hyperlinks. Scored by PageRank-family random walks.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DOJ trial: the ‘Quality’ signal = PageRank + link distance from trusted seed sites.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8A849E"/>
                </a:solidFill>
                <a:latin typeface="Consolas"/>
              </a:rPr>
              <a:t>US9165040B1 • US8972329B2 • DOJ v. Google testimony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A849E"/>
                </a:solidFill>
                <a:latin typeface="Consolas"/>
              </a:defRPr>
            </a:pPr>
            <a:r>
              <a:t>EIGHT GRAPHS, ONE RANKING  ·  Brian Kato  ·  SEO Rockstars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A849E"/>
                </a:solidFill>
                <a:latin typeface="Consola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26480" cy="64008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65215" y="0"/>
            <a:ext cx="612648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D4AF37"/>
                </a:solidFill>
                <a:latin typeface="Consolas"/>
              </a:rPr>
              <a:t>ACT II — THE EIGHT GRAPHS  •  GRAPH 02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223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 Narrow"/>
              </a:rPr>
              <a:t>The Entity / Knowledge Graph</a:t>
            </a:r>
          </a:p>
          <a:p>
            <a:pPr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Consolas"/>
              </a:rPr>
              <a:t>SCORES: UNDERSTANDING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84831"/>
            <a:ext cx="1051560" cy="50292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223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Nodes: real-world things. Edges: typed relationships.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US11762933B2 (2023): the query ‘pinpoints nodes within a knowledge graph’ — before document scoring.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US11256866: the KG sits in the answering path.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8A849E"/>
                </a:solidFill>
                <a:latin typeface="Consolas"/>
              </a:rPr>
              <a:t>US11762933B2 • US11256866 • Singhal 2012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A849E"/>
                </a:solidFill>
                <a:latin typeface="Consolas"/>
              </a:defRPr>
            </a:pPr>
            <a:r>
              <a:t>EIGHT GRAPHS, ONE RANKING  ·  Brian Kato  ·  SEO Rockstars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A849E"/>
                </a:solidFill>
                <a:latin typeface="Consola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26480" cy="64008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65215" y="0"/>
            <a:ext cx="612648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D4AF37"/>
                </a:solidFill>
                <a:latin typeface="Consolas"/>
              </a:rPr>
              <a:t>ACT II — THE EIGHT GRAPHS  •  GRAPH 03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223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 Narrow"/>
              </a:rPr>
              <a:t>The Topical Salience Graph</a:t>
            </a:r>
          </a:p>
          <a:p>
            <a:pPr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Consolas"/>
              </a:rPr>
              <a:t>SCORES: DEPTH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84831"/>
            <a:ext cx="1051560" cy="50292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223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Bipartite document↔entity edges, weighted by salience — how central an entity is to a document.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Cloud NL API analyzeEntities returns salience + a Knowledge Graph mid for every entity — a live window into the mechanism.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DOJ ‘ABC’ signals: Anchors / Body / Clicks → Topicality.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8A849E"/>
                </a:solidFill>
                <a:latin typeface="Consolas"/>
              </a:rPr>
              <a:t>Cloud Natural Language API docs • SEL on ABC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A849E"/>
                </a:solidFill>
                <a:latin typeface="Consolas"/>
              </a:defRPr>
            </a:pPr>
            <a:r>
              <a:t>EIGHT GRAPHS, ONE RANKING  ·  Brian Kato  ·  SEO Rockstars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A849E"/>
                </a:solidFill>
                <a:latin typeface="Consola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26480" cy="64008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65215" y="0"/>
            <a:ext cx="612648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D4AF37"/>
                </a:solidFill>
                <a:latin typeface="Consolas"/>
              </a:rPr>
              <a:t>ACT II — THE EIGHT GRAPHS  •  GRAPH 04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223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 Narrow"/>
              </a:rPr>
              <a:t>The Behavioral Graph</a:t>
            </a:r>
          </a:p>
          <a:p>
            <a:pPr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Consolas"/>
              </a:rPr>
              <a:t>SCORES: SATISFACTION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84831"/>
            <a:ext cx="1051560" cy="50292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223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Bipartite user↔document edges: clicks, dwell, Chrome visits.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Navboost running since ~2005 on 13 months of click data (Glue underneath).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2024 leak: goodClicks • badClicks • lastLongestClicks.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“Pretty much everyone knows we’re using clicks in rankings.” — Eric Lehman, sworn DOJ testimony, 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8A849E"/>
                </a:solidFill>
                <a:latin typeface="Consolas"/>
              </a:rPr>
              <a:t>DOJ testimony (Nayak, Lehman) • 2024 Content Warehouse leak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A849E"/>
                </a:solidFill>
                <a:latin typeface="Consolas"/>
              </a:defRPr>
            </a:pPr>
            <a:r>
              <a:t>EIGHT GRAPHS, ONE RANKING  ·  Brian Kato  ·  SEO Rockstars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A849E"/>
                </a:solidFill>
                <a:latin typeface="Consola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26480" cy="64008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65215" y="0"/>
            <a:ext cx="612648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D4AF37"/>
                </a:solidFill>
                <a:latin typeface="Consolas"/>
              </a:rPr>
              <a:t>ACT II — THE EIGHT GRAPHS  •  GRAPH 05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223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 Narrow"/>
              </a:rPr>
              <a:t>The Authorship / Identity Graph</a:t>
            </a:r>
          </a:p>
          <a:p>
            <a:pPr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Consolas"/>
              </a:rPr>
              <a:t>SCORES: PROVENANCE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84831"/>
            <a:ext cx="1051560" cy="50292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223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Person nodes → document edges.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2007: Agent Rank patent — author ‘digital signatures’ as a ranking signal.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2011: rel=author → 2014: dropped → 2020: ‘Author Vectors’ patent — algorithmic author ID from writing + behavior.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The arc: explicit markup → inferred identity. E-E-A-T is this graph with a human-readable name.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8A849E"/>
                </a:solidFill>
                <a:latin typeface="Consolas"/>
              </a:rPr>
              <a:t>Agent Rank (2007) • Author Vectors (2020) • QRG E-E-A-T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A849E"/>
                </a:solidFill>
                <a:latin typeface="Consolas"/>
              </a:defRPr>
            </a:pPr>
            <a:r>
              <a:t>EIGHT GRAPHS, ONE RANKING  ·  Brian Kato  ·  SEO Rockstars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A849E"/>
                </a:solidFill>
                <a:latin typeface="Consola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26480" cy="64008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65215" y="0"/>
            <a:ext cx="612648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D4AF37"/>
                </a:solidFill>
                <a:latin typeface="Consolas"/>
              </a:rPr>
              <a:t>ACT II — THE EIGHT GRAPHS  •  GRAPH 06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223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 Narrow"/>
              </a:rPr>
              <a:t>The Local / Review Graph</a:t>
            </a:r>
          </a:p>
          <a:p>
            <a:pPr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Consolas"/>
              </a:rPr>
              <a:t>SCORES: PROMINENCE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84831"/>
            <a:ext cx="1051560" cy="50292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223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Business↔place↔reviewer edges.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Google’s official trio: Relevance • Distance • Prominence.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Search Atlas, 3,269 businesses (Sept 2025): review-count influence rises 19% → 26% in top-ten local results — the review graph differentiates at the top.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8A849E"/>
                </a:solidFill>
                <a:latin typeface="Consolas"/>
              </a:rPr>
              <a:t>Google local ranking docs • Search Atlas, Sept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A849E"/>
                </a:solidFill>
                <a:latin typeface="Consolas"/>
              </a:defRPr>
            </a:pPr>
            <a:r>
              <a:t>EIGHT GRAPHS, ONE RANKING  ·  Brian Kato  ·  SEO Rockstars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A849E"/>
                </a:solidFill>
                <a:latin typeface="Consola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26480" cy="64008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65215" y="0"/>
            <a:ext cx="612648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D4AF37"/>
                </a:solidFill>
                <a:latin typeface="Consolas"/>
              </a:rPr>
              <a:t>ACT II — THE EIGHT GRAPHS  •  GRAPH 07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223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 Narrow"/>
              </a:rPr>
              <a:t>The Trust / Spam Graph</a:t>
            </a:r>
          </a:p>
          <a:p>
            <a:pPr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Consolas"/>
              </a:rPr>
              <a:t>SCORES: TRUST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84831"/>
            <a:ext cx="1051560" cy="50292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223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The link graph re-walked — teleportation restricted to human-verified seed sets.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TrustRank: reliability decays with graph distance from seeds. Anti-Trust Rank runs in reverse from spam seeds.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‘PageRank and TrustRank are the same graph with different teleportation distributions.’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8A849E"/>
                </a:solidFill>
                <a:latin typeface="Consolas"/>
              </a:rPr>
              <a:t>US7603350B1 • US7533092B2 • Gyöngyi et al. 2004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A849E"/>
                </a:solidFill>
                <a:latin typeface="Consolas"/>
              </a:defRPr>
            </a:pPr>
            <a:r>
              <a:t>EIGHT GRAPHS, ONE RANKING  ·  Brian Kato  ·  SEO Rockstars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A849E"/>
                </a:solidFill>
                <a:latin typeface="Consola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26480" cy="64008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65215" y="0"/>
            <a:ext cx="612648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D4AF37"/>
                </a:solidFill>
                <a:latin typeface="Consolas"/>
              </a:rPr>
              <a:t>ACT II — THE EIGHT GRAPHS  •  GRAPH 08 /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223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 Narrow"/>
              </a:rPr>
              <a:t>The Citation Graph</a:t>
            </a:r>
          </a:p>
          <a:p>
            <a:pPr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Consolas"/>
              </a:rPr>
              <a:t>SCORES: SCHOLARLY ECHO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84831"/>
            <a:ext cx="1051560" cy="50292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223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Garfield’s citation analysis → PageRank → Google Scholar.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The scholarly sibling of the link graph — same random-surfer machinery, formal citations as edges.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8A849E"/>
                </a:solidFill>
                <a:latin typeface="Consolas"/>
              </a:rPr>
              <a:t>PageRank patent history • Google Scholar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A849E"/>
                </a:solidFill>
                <a:latin typeface="Consolas"/>
              </a:defRPr>
            </a:pPr>
            <a:r>
              <a:t>EIGHT GRAPHS, ONE RANKING  ·  Brian Kato  ·  SEO Rockstars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A849E"/>
                </a:solidFill>
                <a:latin typeface="Consola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26480" cy="64008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65215" y="0"/>
            <a:ext cx="612648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D4AF37"/>
                </a:solidFill>
                <a:latin typeface="Consolas"/>
              </a:rPr>
              <a:t>ACT II — 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600" b="1" i="0">
                <a:solidFill>
                  <a:srgbClr val="FFFFFF"/>
                </a:solidFill>
                <a:latin typeface="Arial Narrow"/>
              </a:rPr>
              <a:t>The map — eight graphs, one ranking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1051560" cy="50292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194560"/>
          <a:ext cx="1088136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6560"/>
                <a:gridCol w="4114800"/>
              </a:tblGrid>
              <a:tr h="416559">
                <a:tc>
                  <a:txBody>
                    <a:bodyPr wrap="square" lIns="137160"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onsolas"/>
                        </a:rPr>
                        <a:t>GRAPH</a:t>
                      </a:r>
                    </a:p>
                  </a:txBody>
                  <a:tcPr anchor="ctr">
                    <a:solidFill>
                      <a:srgbClr val="FF2FB3"/>
                    </a:solidFill>
                  </a:tcPr>
                </a:tc>
                <a:tc>
                  <a:txBody>
                    <a:bodyPr wrap="square" lIns="137160" tIns="36576" bIns="36576"/>
                    <a:lstStyle/>
                    <a:p>
                      <a:r>
                        <a:rPr sz="1300" b="1">
                          <a:solidFill>
                            <a:srgbClr val="22D3EE"/>
                          </a:solidFill>
                          <a:latin typeface="Consolas"/>
                        </a:rPr>
                        <a:t>WHAT IT SCORES</a:t>
                      </a:r>
                    </a:p>
                  </a:txBody>
                  <a:tcPr anchor="ctr">
                    <a:solidFill>
                      <a:srgbClr val="FF2FB3"/>
                    </a:solidFill>
                  </a:tcPr>
                </a:tc>
              </a:tr>
              <a:tr h="416559">
                <a:tc>
                  <a:txBody>
                    <a:bodyPr wrap="square" lIns="137160" tIns="36576" bIns="36576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Link graph</a:t>
                      </a:r>
                    </a:p>
                  </a:txBody>
                  <a:tcPr anchor="ctr">
                    <a:solidFill>
                      <a:srgbClr val="1B1438"/>
                    </a:solidFill>
                  </a:tcPr>
                </a:tc>
                <a:tc>
                  <a:txBody>
                    <a:bodyPr wrap="square" lIns="137160" tIns="36576" bIns="36576"/>
                    <a:lstStyle/>
                    <a:p>
                      <a:r>
                        <a:rPr sz="1500" b="1">
                          <a:solidFill>
                            <a:srgbClr val="22D3EE"/>
                          </a:solidFill>
                          <a:latin typeface="Calibri"/>
                        </a:rPr>
                        <a:t>Authority</a:t>
                      </a:r>
                    </a:p>
                  </a:txBody>
                  <a:tcPr anchor="ctr">
                    <a:solidFill>
                      <a:srgbClr val="1B1438"/>
                    </a:solidFill>
                  </a:tcPr>
                </a:tc>
              </a:tr>
              <a:tr h="416559">
                <a:tc>
                  <a:txBody>
                    <a:bodyPr wrap="square" lIns="137160" tIns="36576" bIns="36576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Entity / Knowledge graph</a:t>
                      </a:r>
                    </a:p>
                  </a:txBody>
                  <a:tcPr anchor="ctr">
                    <a:solidFill>
                      <a:srgbClr val="1B1438"/>
                    </a:solidFill>
                  </a:tcPr>
                </a:tc>
                <a:tc>
                  <a:txBody>
                    <a:bodyPr wrap="square" lIns="137160" tIns="36576" bIns="36576"/>
                    <a:lstStyle/>
                    <a:p>
                      <a:r>
                        <a:rPr sz="1500" b="1">
                          <a:solidFill>
                            <a:srgbClr val="22D3EE"/>
                          </a:solidFill>
                          <a:latin typeface="Calibri"/>
                        </a:rPr>
                        <a:t>Understanding</a:t>
                      </a:r>
                    </a:p>
                  </a:txBody>
                  <a:tcPr anchor="ctr">
                    <a:solidFill>
                      <a:srgbClr val="1B1438"/>
                    </a:solidFill>
                  </a:tcPr>
                </a:tc>
              </a:tr>
              <a:tr h="416559">
                <a:tc>
                  <a:txBody>
                    <a:bodyPr wrap="square" lIns="137160" tIns="36576" bIns="36576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Topical salience graph</a:t>
                      </a:r>
                    </a:p>
                  </a:txBody>
                  <a:tcPr anchor="ctr">
                    <a:solidFill>
                      <a:srgbClr val="1B1438"/>
                    </a:solidFill>
                  </a:tcPr>
                </a:tc>
                <a:tc>
                  <a:txBody>
                    <a:bodyPr wrap="square" lIns="137160" tIns="36576" bIns="36576"/>
                    <a:lstStyle/>
                    <a:p>
                      <a:r>
                        <a:rPr sz="1500" b="1">
                          <a:solidFill>
                            <a:srgbClr val="22D3EE"/>
                          </a:solidFill>
                          <a:latin typeface="Calibri"/>
                        </a:rPr>
                        <a:t>Depth</a:t>
                      </a:r>
                    </a:p>
                  </a:txBody>
                  <a:tcPr anchor="ctr">
                    <a:solidFill>
                      <a:srgbClr val="1B1438"/>
                    </a:solidFill>
                  </a:tcPr>
                </a:tc>
              </a:tr>
              <a:tr h="416559">
                <a:tc>
                  <a:txBody>
                    <a:bodyPr wrap="square" lIns="137160" tIns="36576" bIns="36576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Behavioral graph</a:t>
                      </a:r>
                    </a:p>
                  </a:txBody>
                  <a:tcPr anchor="ctr">
                    <a:solidFill>
                      <a:srgbClr val="1B1438"/>
                    </a:solidFill>
                  </a:tcPr>
                </a:tc>
                <a:tc>
                  <a:txBody>
                    <a:bodyPr wrap="square" lIns="137160" tIns="36576" bIns="36576"/>
                    <a:lstStyle/>
                    <a:p>
                      <a:r>
                        <a:rPr sz="1500" b="1">
                          <a:solidFill>
                            <a:srgbClr val="22D3EE"/>
                          </a:solidFill>
                          <a:latin typeface="Calibri"/>
                        </a:rPr>
                        <a:t>Satisfaction</a:t>
                      </a:r>
                    </a:p>
                  </a:txBody>
                  <a:tcPr anchor="ctr">
                    <a:solidFill>
                      <a:srgbClr val="1B1438"/>
                    </a:solidFill>
                  </a:tcPr>
                </a:tc>
              </a:tr>
              <a:tr h="416559">
                <a:tc>
                  <a:txBody>
                    <a:bodyPr wrap="square" lIns="137160" tIns="36576" bIns="36576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Authorship / Identity graph</a:t>
                      </a:r>
                    </a:p>
                  </a:txBody>
                  <a:tcPr anchor="ctr">
                    <a:solidFill>
                      <a:srgbClr val="1B1438"/>
                    </a:solidFill>
                  </a:tcPr>
                </a:tc>
                <a:tc>
                  <a:txBody>
                    <a:bodyPr wrap="square" lIns="137160" tIns="36576" bIns="36576"/>
                    <a:lstStyle/>
                    <a:p>
                      <a:r>
                        <a:rPr sz="1500" b="1">
                          <a:solidFill>
                            <a:srgbClr val="22D3EE"/>
                          </a:solidFill>
                          <a:latin typeface="Calibri"/>
                        </a:rPr>
                        <a:t>Provenance</a:t>
                      </a:r>
                    </a:p>
                  </a:txBody>
                  <a:tcPr anchor="ctr">
                    <a:solidFill>
                      <a:srgbClr val="1B1438"/>
                    </a:solidFill>
                  </a:tcPr>
                </a:tc>
              </a:tr>
              <a:tr h="416559">
                <a:tc>
                  <a:txBody>
                    <a:bodyPr wrap="square" lIns="137160" tIns="36576" bIns="36576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Local / Review graph</a:t>
                      </a:r>
                    </a:p>
                  </a:txBody>
                  <a:tcPr anchor="ctr">
                    <a:solidFill>
                      <a:srgbClr val="1B1438"/>
                    </a:solidFill>
                  </a:tcPr>
                </a:tc>
                <a:tc>
                  <a:txBody>
                    <a:bodyPr wrap="square" lIns="137160" tIns="36576" bIns="36576"/>
                    <a:lstStyle/>
                    <a:p>
                      <a:r>
                        <a:rPr sz="1500" b="1">
                          <a:solidFill>
                            <a:srgbClr val="22D3EE"/>
                          </a:solidFill>
                          <a:latin typeface="Calibri"/>
                        </a:rPr>
                        <a:t>Prominence</a:t>
                      </a:r>
                    </a:p>
                  </a:txBody>
                  <a:tcPr anchor="ctr">
                    <a:solidFill>
                      <a:srgbClr val="1B1438"/>
                    </a:solidFill>
                  </a:tcPr>
                </a:tc>
              </a:tr>
              <a:tr h="416559">
                <a:tc>
                  <a:txBody>
                    <a:bodyPr wrap="square" lIns="137160" tIns="36576" bIns="36576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Trust / Spam graph</a:t>
                      </a:r>
                    </a:p>
                  </a:txBody>
                  <a:tcPr anchor="ctr">
                    <a:solidFill>
                      <a:srgbClr val="1B1438"/>
                    </a:solidFill>
                  </a:tcPr>
                </a:tc>
                <a:tc>
                  <a:txBody>
                    <a:bodyPr wrap="square" lIns="137160" tIns="36576" bIns="36576"/>
                    <a:lstStyle/>
                    <a:p>
                      <a:r>
                        <a:rPr sz="1500" b="1">
                          <a:solidFill>
                            <a:srgbClr val="22D3EE"/>
                          </a:solidFill>
                          <a:latin typeface="Calibri"/>
                        </a:rPr>
                        <a:t>Safety</a:t>
                      </a:r>
                    </a:p>
                  </a:txBody>
                  <a:tcPr anchor="ctr">
                    <a:solidFill>
                      <a:srgbClr val="1B1438"/>
                    </a:solidFill>
                  </a:tcPr>
                </a:tc>
              </a:tr>
              <a:tr h="416567">
                <a:tc>
                  <a:txBody>
                    <a:bodyPr wrap="square" lIns="137160" tIns="36576" bIns="36576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Citation graph</a:t>
                      </a:r>
                    </a:p>
                  </a:txBody>
                  <a:tcPr anchor="ctr">
                    <a:solidFill>
                      <a:srgbClr val="1B1438"/>
                    </a:solidFill>
                  </a:tcPr>
                </a:tc>
                <a:tc>
                  <a:txBody>
                    <a:bodyPr wrap="square" lIns="137160" tIns="36576" bIns="36576"/>
                    <a:lstStyle/>
                    <a:p>
                      <a:r>
                        <a:rPr sz="1500" b="1">
                          <a:solidFill>
                            <a:srgbClr val="22D3EE"/>
                          </a:solidFill>
                          <a:latin typeface="Calibri"/>
                        </a:rPr>
                        <a:t>Scholarly echo</a:t>
                      </a:r>
                    </a:p>
                  </a:txBody>
                  <a:tcPr anchor="ctr">
                    <a:solidFill>
                      <a:srgbClr val="1B143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A849E"/>
                </a:solidFill>
                <a:latin typeface="Consolas"/>
              </a:defRPr>
            </a:pPr>
            <a:r>
              <a:t>EIGHT GRAPHS, ONE RANKING  ·  Brian Kato  ·  SEO Rockstars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A849E"/>
                </a:solidFill>
                <a:latin typeface="Consola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26480" cy="64008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65215" y="0"/>
            <a:ext cx="612648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D4AF37"/>
                </a:solidFill>
                <a:latin typeface="Consolas"/>
              </a:rPr>
              <a:t>ACT III — HOW THE GRAPHS FUSE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223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 Narrow"/>
              </a:rPr>
              <a:t>The production pipeline: Superroot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84831"/>
            <a:ext cx="1051560" cy="50292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223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1 • Candidate retrieval — web index + Knowledge Graph + specialist indexes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2 • First-pass scoring — PageRank, Q*, BM25-style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3 • Navboost / Glue re-rank — the behavioral graph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4 • DeepRank / RankBrain / RankEmbed re-rank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5 • Twiddlers  →  6 • AI Overview generation (RAG over the ranked set)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Early fusion → late fusion → ML fusion. Each stage is a different graph’s signal.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8A849E"/>
                </a:solidFill>
                <a:latin typeface="Consolas"/>
              </a:rPr>
              <a:t>Antitrust disclosure analysis (Superroot orchestrator)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A849E"/>
                </a:solidFill>
                <a:latin typeface="Consolas"/>
              </a:defRPr>
            </a:pPr>
            <a:r>
              <a:t>EIGHT GRAPHS, ONE RANKING  ·  Brian Kato  ·  SEO Rockstars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A849E"/>
                </a:solidFill>
                <a:latin typeface="Consola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26480" cy="64008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65215" y="0"/>
            <a:ext cx="612648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>
                <a:solidFill>
                  <a:srgbClr val="D4AF37"/>
                </a:solidFill>
                <a:latin typeface="Consolas"/>
              </a:rPr>
              <a:t>ACT III — THE FORMAL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1600" cy="2926080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371600"/>
            <a:ext cx="9692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3000" b="1" i="0">
                <a:solidFill>
                  <a:srgbClr val="FFFFFF"/>
                </a:solidFill>
                <a:latin typeface="Arial Narrow"/>
              </a:rPr>
              <a:t>“The centrality a node has in one layer affects the centrality the node can obtain in another layer.”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C9C2D9"/>
                </a:solidFill>
                <a:latin typeface="Consolas"/>
              </a:rPr>
              <a:t>Multiplex PageRank — Halcão, Gómez, Arenas, Boccaletti, PLOS ONE 2013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•  One layer’s scores bias the random jumps in another layer.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•  This sentence is the thesis of this talk, in math 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A849E"/>
                </a:solidFill>
                <a:latin typeface="Consolas"/>
              </a:defRPr>
            </a:pPr>
            <a:r>
              <a:t>EIGHT GRAPHS, ONE RANKING  ·  Brian Kato  ·  SEO Rockstars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A849E"/>
                </a:solidFill>
                <a:latin typeface="Consola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26480" cy="64008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65215" y="0"/>
            <a:ext cx="612648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D4AF37"/>
                </a:solidFill>
                <a:latin typeface="Consolas"/>
              </a:rPr>
              <a:t>ACT III — HOW THE GRAPHS FUSE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223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 Narrow"/>
              </a:rPr>
              <a:t>Why fusion beats any single graph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84831"/>
            <a:ext cx="1051560" cy="50292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223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Chen (2022): global search on the multiplex beats any single layer in isolation.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Translation for SEOs: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A site strong on 5 graphs at 70% beats a site strong on 1 graph at 100%.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That’s why ‘great links, mediocre everything else’ keeps losing.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8A849E"/>
                </a:solidFill>
                <a:latin typeface="Consolas"/>
              </a:rPr>
              <a:t>arXiv:2207.08425 — Random walks on multiplex networks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A849E"/>
                </a:solidFill>
                <a:latin typeface="Consolas"/>
              </a:defRPr>
            </a:pPr>
            <a:r>
              <a:t>EIGHT GRAPHS, ONE RANKING  ·  Brian Kato  ·  SEO Rockstars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A849E"/>
                </a:solidFill>
                <a:latin typeface="Consola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26480" cy="64008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65215" y="0"/>
            <a:ext cx="612648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D4AF37"/>
                </a:solidFill>
                <a:latin typeface="Consolas"/>
              </a:rPr>
              <a:t>ACT III — HOW THE GRAPHS FUSE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223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 Narrow"/>
              </a:rPr>
              <a:t>Heterogeneous Information Networks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84831"/>
            <a:ext cx="1051560" cy="50292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223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Sun &amp; Han: typed nodes, typed links.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Meta-paths — e.g. author→paper→venue→paper — compose layers into similarity and ranking measures.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In Google terms: PageRank/TrustRank = same layer, different walks; Navboost = a walk on the user–document bipartite graph; the KG is traversed at query time; learning-to-rank fuses late.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8A849E"/>
                </a:solidFill>
                <a:latin typeface="Consolas"/>
              </a:rPr>
              <a:t>Sun &amp; Han, Mining Heterogeneous Information Networks (Springer)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A849E"/>
                </a:solidFill>
                <a:latin typeface="Consolas"/>
              </a:defRPr>
            </a:pPr>
            <a:r>
              <a:t>EIGHT GRAPHS, ONE RANKING  ·  Brian Kato  ·  SEO Rockstars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A849E"/>
                </a:solidFill>
                <a:latin typeface="Consola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26480" cy="64008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65215" y="0"/>
            <a:ext cx="612648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D4AF37"/>
                </a:solidFill>
                <a:latin typeface="Consolas"/>
              </a:rPr>
              <a:t>ACT 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223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 Narrow"/>
              </a:rPr>
              <a:t>False Precision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84831"/>
            <a:ext cx="1051560" cy="50292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223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The fusion weights are not public.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The 2024 leak shows which attributes exist — not how they’re weighted.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“Anyone who tells you ‘links are 23% of the algorithm’ is selling you a number they cannot have.”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The graphs are real. The weights are not. Build for all eight; don’t optimize for a number.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A849E"/>
                </a:solidFill>
                <a:latin typeface="Consolas"/>
              </a:defRPr>
            </a:pPr>
            <a:r>
              <a:t>EIGHT GRAPHS, ONE RANKING  ·  Brian Kato  ·  SEO Rockstars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A849E"/>
                </a:solidFill>
                <a:latin typeface="Consola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26480" cy="64008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65215" y="0"/>
            <a:ext cx="612648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D4AF37"/>
                </a:solidFill>
                <a:latin typeface="Consolas"/>
              </a:rPr>
              <a:t>ACT III — 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223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 Narrow"/>
              </a:rPr>
              <a:t>Proven machinery, not speculation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84831"/>
            <a:ext cx="1051560" cy="50292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223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Rankings = the interference pattern of eight overlapping graphs, fused in a cascade.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Patents, sworn testimony, and the math all agree.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A849E"/>
                </a:solidFill>
                <a:latin typeface="Consolas"/>
              </a:defRPr>
            </a:pPr>
            <a:r>
              <a:t>EIGHT GRAPHS, ONE RANKING  ·  Brian Kato  ·  SEO Rockstars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A849E"/>
                </a:solidFill>
                <a:latin typeface="Consola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26480" cy="64008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65215" y="0"/>
            <a:ext cx="612648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D4AF37"/>
                </a:solidFill>
                <a:latin typeface="Consolas"/>
              </a:rPr>
              <a:t>ACT IV — AI USES THE SAME TRICK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223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 Narrow"/>
              </a:rPr>
              <a:t>RAG’s founding pattern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84831"/>
            <a:ext cx="1051560" cy="50292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223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Lewis et al. (2020): generator + non-parametric memory.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A dense vector index over ~21M Wikipedia passages.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The vector index is itself a similarity graph — nearest-neighbor edges.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8A849E"/>
                </a:solidFill>
                <a:latin typeface="Consolas"/>
              </a:rPr>
              <a:t>arXiv:2005.11401 (NeurIPS 2020)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A849E"/>
                </a:solidFill>
                <a:latin typeface="Consolas"/>
              </a:defRPr>
            </a:pPr>
            <a:r>
              <a:t>EIGHT GRAPHS, ONE RANKING  ·  Brian Kato  ·  SEO Rockstars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A849E"/>
                </a:solidFill>
                <a:latin typeface="Consola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26480" cy="64008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65215" y="0"/>
            <a:ext cx="612648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D4AF37"/>
                </a:solidFill>
                <a:latin typeface="Consolas"/>
              </a:rPr>
              <a:t>ACT IV — AI USES THE SAME TRICK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223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 Narrow"/>
              </a:rPr>
              <a:t>GraphRAG: the KG gets layered 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84831"/>
            <a:ext cx="1051560" cy="50292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223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Microsoft GraphRAG (Edge et al. 2024): LLM builds an entity KG → Leiden communities → local / global search.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LightRAG (2024): dual-level retrieval fusing graph structure + vector representations.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ACM TOIS 2025 survey: graph-based indexing → graph-guided retrieval → graph-enhanced generation.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8A849E"/>
                </a:solidFill>
                <a:latin typeface="Consolas"/>
              </a:rPr>
              <a:t>arXiv:2404.16130 • arXiv:2410.05779 • ACM TOIS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A849E"/>
                </a:solidFill>
                <a:latin typeface="Consolas"/>
              </a:defRPr>
            </a:pPr>
            <a:r>
              <a:t>EIGHT GRAPHS, ONE RANKING  ·  Brian Kato  ·  SEO Rockstars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A849E"/>
                </a:solidFill>
                <a:latin typeface="Consola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26480" cy="64008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65215" y="0"/>
            <a:ext cx="612648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D4AF37"/>
                </a:solidFill>
                <a:latin typeface="Consolas"/>
              </a:rPr>
              <a:t>ACT IV — AI USES THE SAME TRICK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223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 Narrow"/>
              </a:rPr>
              <a:t>Every pipeline fuses the same three graphs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84831"/>
            <a:ext cx="1051560" cy="50292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223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(a)  vector-similarity graph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(b)  entity / knowledge graph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(c)  document / citation graph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Same three-layer shape as Google’s index / KG / behavioral stack.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Different century. Same math.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A849E"/>
                </a:solidFill>
                <a:latin typeface="Consolas"/>
              </a:defRPr>
            </a:pPr>
            <a:r>
              <a:t>EIGHT GRAPHS, ONE RANKING  ·  Brian Kato  ·  SEO Rockstars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A849E"/>
                </a:solidFill>
                <a:latin typeface="Consolas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26480" cy="64008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65215" y="0"/>
            <a:ext cx="612648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D4AF37"/>
                </a:solidFill>
                <a:latin typeface="Consolas"/>
              </a:rPr>
              <a:t>ACT IV — AI USES THE SAME TRICK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223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 Narrow"/>
              </a:rPr>
              <a:t>The answer engines run multi-graph retrieval too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84831"/>
            <a:ext cx="1051560" cy="50292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223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Perplexity: 5-stage intent→retrieval→rerank pipeline + an engagement feedback loop — its own behavioral graph. (Reverse-engineered.)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ChatGPT Search: Bing-powered retrieval + hidden cached index + query fan-out. Only ~15% of retrieved pages get cited — retrieval gate, then citation gate.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Bing Satori: RDF/SPARQL entity engine; fuses search-log behavior with the entity graph.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Gemini grounding: Google Search + Google Maps + Vertex AI Search RAG, combinable.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8A849E"/>
                </a:solidFill>
                <a:latin typeface="Consolas"/>
              </a:rPr>
              <a:t>ziptie.ai • attrifast, Sept 2026 • Satori docs • Cloud grounding docs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A849E"/>
                </a:solidFill>
                <a:latin typeface="Consolas"/>
              </a:defRPr>
            </a:pPr>
            <a:r>
              <a:t>EIGHT GRAPHS, ONE RANKING  ·  Brian Kato  ·  SEO Rockstars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A849E"/>
                </a:solidFill>
                <a:latin typeface="Consolas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26480" cy="64008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65215" y="0"/>
            <a:ext cx="612648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D4AF37"/>
                </a:solidFill>
                <a:latin typeface="Consolas"/>
              </a:rPr>
              <a:t>ACT IV — WHAT THIS MEANS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223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 Narrow"/>
              </a:rPr>
              <a:t>‘SEO’ and ‘AI visibility’ are not two disciplines.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84831"/>
            <a:ext cx="1051560" cy="50292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223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Same multi-graph game — different final stage: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a ranked list  vs.  a generated answer with citations.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The 8-graph playbook applies to both.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A849E"/>
                </a:solidFill>
                <a:latin typeface="Consolas"/>
              </a:defRPr>
            </a:pPr>
            <a:r>
              <a:t>EIGHT GRAPHS, ONE RANKING  ·  Brian Kato  ·  SEO Rockstars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A849E"/>
                </a:solidFill>
                <a:latin typeface="Consolas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26480" cy="64008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65215" y="0"/>
            <a:ext cx="612648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D4AF37"/>
                </a:solidFill>
                <a:latin typeface="Consolas"/>
              </a:rPr>
              <a:t>ACT V — THE MULTI-GRAPH PLAYBOOK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223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 Narrow"/>
              </a:rPr>
              <a:t>Authority engineering</a:t>
            </a:r>
          </a:p>
          <a:p>
            <a:pPr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Consolas"/>
              </a:rPr>
              <a:t>FEEDS: LINK + TRUST GRAPHS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84831"/>
            <a:ext cx="1051560" cy="50292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223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Build links from seed-adjacent, editorially real sources.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Proximity to trusted seeds beats raw volume.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siteAuthority (2024 leak) = quality metrics + content signals + link diversity — not just counts.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A849E"/>
                </a:solidFill>
                <a:latin typeface="Consolas"/>
              </a:defRPr>
            </a:pPr>
            <a:r>
              <a:t>EIGHT GRAPHS, ONE RANKING  ·  Brian Kato  ·  SEO Rockstars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A849E"/>
                </a:solidFill>
                <a:latin typeface="Consolas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26480" cy="64008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65215" y="0"/>
            <a:ext cx="612648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D4AF37"/>
                </a:solidFill>
                <a:latin typeface="Consolas"/>
              </a:rPr>
              <a:t>ACT V — THE MULTI-GRAPH PLAYBOOK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223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 Narrow"/>
              </a:rPr>
              <a:t>Entity establishment</a:t>
            </a:r>
          </a:p>
          <a:p>
            <a:pPr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Consolas"/>
              </a:rPr>
              <a:t>FEEDS: KNOWLEDGE GRAPH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84831"/>
            <a:ext cx="1051560" cy="50292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223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Become a resolvable entity: Wikipedia / Wikidata presence.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Consistent naming + NAP; schema.org Organization / Person with sameAs.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Aliases resolve to canonical /m/ IDs — consistency across sources IS the mechanism of recognition.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A849E"/>
                </a:solidFill>
                <a:latin typeface="Consolas"/>
              </a:defRPr>
            </a:pPr>
            <a:r>
              <a:t>EIGHT GRAPHS, ONE RANKING  ·  Brian Kato  ·  SEO Rockstars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A849E"/>
                </a:solidFill>
                <a:latin typeface="Consolas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26480" cy="64008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65215" y="0"/>
            <a:ext cx="612648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D4AF37"/>
                </a:solidFill>
                <a:latin typeface="Consolas"/>
              </a:rPr>
              <a:t>ACT V — THE MULTI-GRAPH PLAYBOOK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223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 Narrow"/>
              </a:rPr>
              <a:t>Entity-dense topical content</a:t>
            </a:r>
          </a:p>
          <a:p>
            <a:pPr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Consolas"/>
              </a:rPr>
              <a:t>FEEDS: SALIENCE GRAPH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84831"/>
            <a:ext cx="1051560" cy="50292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223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Mention target entities as central to the document — not passing mentions.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Topical clusters reinforce which entities a site ‘owns.’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Write extractable, definition-led sentences — built for AI citation.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A849E"/>
                </a:solidFill>
                <a:latin typeface="Consolas"/>
              </a:defRPr>
            </a:pPr>
            <a:r>
              <a:t>EIGHT GRAPHS, ONE RANKING  ·  Brian Kato  ·  SEO Rockstars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A849E"/>
                </a:solidFill>
                <a:latin typeface="Consolas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26480" cy="64008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65215" y="0"/>
            <a:ext cx="612648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D4AF37"/>
                </a:solidFill>
                <a:latin typeface="Consolas"/>
              </a:rPr>
              <a:t>ACT V — THE MULTI-GRAPH PLAYBOOK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223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 Narrow"/>
              </a:rPr>
              <a:t>Earn the click and the stay</a:t>
            </a:r>
          </a:p>
          <a:p>
            <a:pPr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Consolas"/>
              </a:rPr>
              <a:t>FEEDS: BEHAVIORAL GRAPH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84831"/>
            <a:ext cx="1051560" cy="50292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223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Navboost learns from 13 months of clicks and dwell.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Title/meta craft, SERP-feature capture, genuinely satisfying content.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Brand and navigational search behavior feed the same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A849E"/>
                </a:solidFill>
                <a:latin typeface="Consolas"/>
              </a:defRPr>
            </a:pPr>
            <a:r>
              <a:t>EIGHT GRAPHS, ONE RANKING  ·  Brian Kato  ·  SEO Rockstars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A849E"/>
                </a:solidFill>
                <a:latin typeface="Consolas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26480" cy="64008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65215" y="0"/>
            <a:ext cx="612648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D4AF37"/>
                </a:solidFill>
                <a:latin typeface="Consolas"/>
              </a:rPr>
              <a:t>ACT V — THE MULTI-GRAPH PLAYBOOK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223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 Narrow"/>
              </a:rPr>
              <a:t>Consistent, verifiable authorship</a:t>
            </a:r>
          </a:p>
          <a:p>
            <a:pPr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Consolas"/>
              </a:rPr>
              <a:t>FEEDS: IDENTITY GRAPH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84831"/>
            <a:ext cx="1051560" cy="50292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223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Named bylines + credentialed author pages.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The same author identity across domains — the modern rel=author.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Multi-domain publication histories and byline+expertise pages earn higher AI citation rates.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A849E"/>
                </a:solidFill>
                <a:latin typeface="Consolas"/>
              </a:defRPr>
            </a:pPr>
            <a:r>
              <a:t>EIGHT GRAPHS, ONE RANKING  ·  Brian Kato  ·  SEO Rockstars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A849E"/>
                </a:solidFill>
                <a:latin typeface="Consolas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26480" cy="64008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65215" y="0"/>
            <a:ext cx="612648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D4AF37"/>
                </a:solidFill>
                <a:latin typeface="Consolas"/>
              </a:rPr>
              <a:t>ACT V — THE MULTI-GRAPH PLAYBOOK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223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 Narrow"/>
              </a:rPr>
              <a:t>Prominence as a campaign</a:t>
            </a:r>
          </a:p>
          <a:p>
            <a:pPr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Consolas"/>
              </a:rPr>
              <a:t>FEEDS: REVIEW + MENTION GRAPHS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84831"/>
            <a:ext cx="1051560" cy="50292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223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Reviews: quantity, recency, keyword relevance, responses. Citations + NAP consistency.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Entity chains across the web: brands are ~6.5× more likely to be cited via third-party mentions than from their own domain.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(Practitioner data — treat as directional.)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A849E"/>
                </a:solidFill>
                <a:latin typeface="Consolas"/>
              </a:defRPr>
            </a:pPr>
            <a:r>
              <a:t>EIGHT GRAPHS, ONE RANKING  ·  Brian Kato  ·  SEO Rockstars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A849E"/>
                </a:solidFill>
                <a:latin typeface="Consolas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26480" cy="64008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65215" y="0"/>
            <a:ext cx="612648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D4AF37"/>
                </a:solidFill>
                <a:latin typeface="Consolas"/>
              </a:rPr>
              <a:t>ACT V — THE MULTI-GRAPH PLAYBOOK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223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 Narrow"/>
              </a:rPr>
              <a:t>Pass the AI gates</a:t>
            </a:r>
          </a:p>
          <a:p>
            <a:pPr>
              <a:spcAft>
                <a:spcPts val="0"/>
              </a:spcAft>
            </a:pPr>
            <a:r>
              <a:rPr sz="1400" b="1" i="0">
                <a:solidFill>
                  <a:srgbClr val="22D3EE"/>
                </a:solidFill>
                <a:latin typeface="Consolas"/>
              </a:rPr>
              <a:t>FEEDS: CITATION GRAPH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84831"/>
            <a:ext cx="1051560" cy="50292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223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Technical gates first: Bing indexation, crawler access (OAI-SearchBot / ChatGPT-User), recency.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53% of AI-cited content was updated within 6 months. (Practitioner data — directional.)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FFFFFF"/>
                </a:solidFill>
                <a:latin typeface="Calibri"/>
              </a:rPr>
              <a:t>▸  Then the citation gate: extractable evidence, freshness, per-engine formats.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A849E"/>
                </a:solidFill>
                <a:latin typeface="Consolas"/>
              </a:defRPr>
            </a:pPr>
            <a:r>
              <a:t>EIGHT GRAPHS, ONE RANKING  ·  Brian Kato  ·  SEO Rockstars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190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A849E"/>
                </a:solidFill>
                <a:latin typeface="Consolas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26480" cy="64008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65215" y="0"/>
            <a:ext cx="612648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D4AF37"/>
                </a:solidFill>
                <a:latin typeface="Consolas"/>
              </a:rPr>
              <a:t>THE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600" b="1" i="0">
                <a:solidFill>
                  <a:srgbClr val="FFFFFF"/>
                </a:solidFill>
                <a:latin typeface="Arial Narrow"/>
              </a:rPr>
              <a:t>Stop asking which graph matters most.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1051560" cy="50292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0881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>
                <a:solidFill>
                  <a:srgbClr val="22D3EE"/>
                </a:solidFill>
                <a:latin typeface="Calibri"/>
              </a:rPr>
              <a:t>☐  </a:t>
            </a:r>
            <a:r>
              <a:rPr sz="1900">
                <a:solidFill>
                  <a:srgbClr val="FFFFFF"/>
                </a:solidFill>
                <a:latin typeface="Calibri"/>
              </a:rPr>
              <a:t>Link graph — are your links seed-adjacent?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22D3EE"/>
                </a:solidFill>
                <a:latin typeface="Calibri"/>
              </a:rPr>
              <a:t>☐  </a:t>
            </a:r>
            <a:r>
              <a:rPr sz="1900">
                <a:solidFill>
                  <a:srgbClr val="FFFFFF"/>
                </a:solidFill>
                <a:latin typeface="Calibri"/>
              </a:rPr>
              <a:t>Entity graph — are you a resolvable entity?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22D3EE"/>
                </a:solidFill>
                <a:latin typeface="Calibri"/>
              </a:rPr>
              <a:t>☐  </a:t>
            </a:r>
            <a:r>
              <a:rPr sz="1900">
                <a:solidFill>
                  <a:srgbClr val="FFFFFF"/>
                </a:solidFill>
                <a:latin typeface="Calibri"/>
              </a:rPr>
              <a:t>Salience graph — are your entities central, not just mentioned?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22D3EE"/>
                </a:solidFill>
                <a:latin typeface="Calibri"/>
              </a:rPr>
              <a:t>☐  </a:t>
            </a:r>
            <a:r>
              <a:rPr sz="1900">
                <a:solidFill>
                  <a:srgbClr val="FFFFFF"/>
                </a:solidFill>
                <a:latin typeface="Calibri"/>
              </a:rPr>
              <a:t>Behavioral graph — do searchers stay?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22D3EE"/>
                </a:solidFill>
                <a:latin typeface="Calibri"/>
              </a:rPr>
              <a:t>☐  </a:t>
            </a:r>
            <a:r>
              <a:rPr sz="1900">
                <a:solidFill>
                  <a:srgbClr val="FFFFFF"/>
                </a:solidFill>
                <a:latin typeface="Calibri"/>
              </a:rPr>
              <a:t>Identity graph — is your authorship verifiable?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22D3EE"/>
                </a:solidFill>
                <a:latin typeface="Calibri"/>
              </a:rPr>
              <a:t>☐  </a:t>
            </a:r>
            <a:r>
              <a:rPr sz="1900">
                <a:solidFill>
                  <a:srgbClr val="FFFFFF"/>
                </a:solidFill>
                <a:latin typeface="Calibri"/>
              </a:rPr>
              <a:t>Review graph — are you prominent off-site?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22D3EE"/>
                </a:solidFill>
                <a:latin typeface="Calibri"/>
              </a:rPr>
              <a:t>☐  </a:t>
            </a:r>
            <a:r>
              <a:rPr sz="1900">
                <a:solidFill>
                  <a:srgbClr val="FFFFFF"/>
                </a:solidFill>
                <a:latin typeface="Calibri"/>
              </a:rPr>
              <a:t>Trust graph — how far are you from the seeds?</a:t>
            </a:r>
          </a:p>
          <a:p>
            <a:pPr>
              <a:spcAft>
                <a:spcPts val="900"/>
              </a:spcAft>
            </a:pPr>
            <a:r>
              <a:rPr sz="1900">
                <a:solidFill>
                  <a:srgbClr val="22D3EE"/>
                </a:solidFill>
                <a:latin typeface="Calibri"/>
              </a:rPr>
              <a:t>☐  </a:t>
            </a:r>
            <a:r>
              <a:rPr sz="1900">
                <a:solidFill>
                  <a:srgbClr val="FFFFFF"/>
                </a:solidFill>
                <a:latin typeface="Calibri"/>
              </a:rPr>
              <a:t>Citation graph — can AI cite you?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5778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 i="0">
                <a:solidFill>
                  <a:srgbClr val="FF2FB3"/>
                </a:solidFill>
                <a:latin typeface="Arial Narrow"/>
              </a:rPr>
              <a:t>Start asking which graph you’re neglecting.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A849E"/>
                </a:solidFill>
                <a:latin typeface="Consolas"/>
              </a:defRPr>
            </a:pPr>
            <a:r>
              <a:t>EIGHT GRAPHS, ONE RANKING  ·  Brian Kato  ·  SEO Rockstars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A849E"/>
                </a:solidFill>
                <a:latin typeface="Consolas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26480" cy="64008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65215" y="0"/>
            <a:ext cx="6126480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>
                <a:solidFill>
                  <a:srgbClr val="D4AF37"/>
                </a:solidFill>
                <a:latin typeface="Consolas"/>
              </a:rPr>
              <a:t>SEO ROCKSTARS 2026 — NEW ORLEANS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1600" cy="2926080"/>
          </a:xfrm>
          <a:prstGeom prst="rect">
            <a:avLst/>
          </a:prstGeom>
          <a:solidFill>
            <a:srgbClr val="FF2F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371600"/>
            <a:ext cx="9692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3000" b="1" i="0">
                <a:solidFill>
                  <a:srgbClr val="FFFFFF"/>
                </a:solidFill>
                <a:latin typeface="Arial Narrow"/>
              </a:rPr>
              <a:t>“The centrality a node has in one layer affects the centrality the node can obtain in another layer.”</a:t>
            </a:r>
          </a:p>
          <a:p>
            <a:pPr>
              <a:spcAft>
                <a:spcPts val="0"/>
              </a:spcAft>
            </a:pPr>
            <a:r>
              <a:rPr sz="1400" b="0" i="0">
                <a:solidFill>
                  <a:srgbClr val="C9C2D9"/>
                </a:solidFill>
                <a:latin typeface="Consolas"/>
              </a:rPr>
              <a:t>— Multiplex PageRank, Halcão et al., 2013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•  Your brand is a node in eight graphs. Act like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D4AF37"/>
                </a:solidFill>
                <a:latin typeface="Consolas"/>
              </a:rPr>
              <a:t>Brian Kato  •  Fusion Vine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A849E"/>
                </a:solidFill>
                <a:latin typeface="Consolas"/>
              </a:defRPr>
            </a:pPr>
            <a:r>
              <a:t>EIGHT GRAPHS, ONE RANKING  ·  Brian Kato  ·  SEO Rockstars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1908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8A849E"/>
                </a:solidFill>
                <a:latin typeface="Consolas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